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 Light"/>
              </a:rPr>
              <a:t>Comparative Evaluation of Vision-Based
Finger Tracking for Piano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977639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C86C"/>
                </a:solidFill>
                <a:latin typeface="Calibri"/>
              </a:rPr>
              <a:t>MediaPipe Hands vs OpenPose · BSc (Hons) Computing · Production Project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30936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  <a:latin typeface="Calibri"/>
              </a:rPr>
              <a:t>Aayam Regmi · The British College / Leeds Beckett University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C1C2E"/>
                </a:solidFill>
                <a:latin typeface="Calibri"/>
              </a:rPr>
              <a:t>• Introduction &amp; Research Aims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Literature Review</a:t>
            </a:r>
          </a:p>
          <a:p>
            <a:pPr algn="l"/>
            <a:r>
              <a:rPr sz="1800" b="0" dirty="0">
                <a:solidFill>
                  <a:srgbClr val="1C1C2E"/>
                </a:solidFill>
                <a:latin typeface="Calibri"/>
              </a:rPr>
              <a:t>• Technologies &amp; Hardware</a:t>
            </a:r>
          </a:p>
          <a:p>
            <a:pPr algn="l"/>
            <a:r>
              <a:rPr sz="1800" b="0" dirty="0">
                <a:solidFill>
                  <a:srgbClr val="1C1C2E"/>
                </a:solidFill>
                <a:latin typeface="Calibri"/>
              </a:rPr>
              <a:t>• Methodology (RAD)</a:t>
            </a:r>
          </a:p>
          <a:p>
            <a:pPr algn="l"/>
            <a:r>
              <a:rPr sz="1800" b="0" dirty="0">
                <a:solidFill>
                  <a:srgbClr val="1C1C2E"/>
                </a:solidFill>
                <a:latin typeface="Calibri"/>
              </a:rPr>
              <a:t>• System Design &amp; Data Collection Pipeline</a:t>
            </a:r>
          </a:p>
          <a:p>
            <a:pPr algn="l"/>
            <a:r>
              <a:rPr sz="1800" b="0" dirty="0">
                <a:solidFill>
                  <a:srgbClr val="1C1C2E"/>
                </a:solidFill>
                <a:latin typeface="Calibri"/>
              </a:rPr>
              <a:t>• Implementation: MJMPE, Polygon Mask &amp; MIDI Sync</a:t>
            </a:r>
          </a:p>
          <a:p>
            <a:pPr algn="l"/>
            <a:r>
              <a:rPr sz="1800" b="0" dirty="0">
                <a:solidFill>
                  <a:srgbClr val="1C1C2E"/>
                </a:solidFill>
                <a:latin typeface="Calibri"/>
              </a:rPr>
              <a:t>• Results: Detection Rate, MJMPE, Skin Tone, Lighting, Hand Size</a:t>
            </a:r>
          </a:p>
          <a:p>
            <a:pPr algn="l"/>
            <a:r>
              <a:rPr sz="1800" b="0" dirty="0">
                <a:solidFill>
                  <a:srgbClr val="1C1C2E"/>
                </a:solidFill>
                <a:latin typeface="Calibri"/>
              </a:rPr>
              <a:t>• Novel Contributions &amp; Conclusion</a:t>
            </a:r>
          </a:p>
          <a:p>
            <a:pPr algn="l"/>
            <a:r>
              <a:rPr sz="1800" b="0" dirty="0">
                <a:solidFill>
                  <a:srgbClr val="1C1C2E"/>
                </a:solidFill>
                <a:latin typeface="Calibri"/>
              </a:rPr>
              <a:t>•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C86C"/>
                </a:solidFill>
                <a:latin typeface="Calibri"/>
              </a:rPr>
              <a:t>Research context, aims and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Introduction &amp; Research 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Evaluate vision-based hand tracking models for real-time piano performance monitoring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Models under test: MediaPipe Hands (Google) and OpenPose (Carnegie Mellon University)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Ground truth: MIDI signals from Casio CTK-2400 synchronized with overhead video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Novel metric: horizontal-axis MJMPE — removes finger-length &amp; depth bias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Cross-participant variables tested: Fitzpatrick skin type, ambient illuminance, hand size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Dataset contribution: 38 sessions, 4 777 note-on events, 89 560 video frames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Research question: Which model is better suited for a real-time piano tutor app?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C86C"/>
                </a:solidFill>
                <a:latin typeface="Calibri"/>
              </a:rPr>
              <a:t>Prior work in hand tracking &amp; piano interaction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Kinect (Microsoft): early depth-based tracking — hardware cost &amp; complexity (Han et al., 2013)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Shift to single-camera CNN landmark detection — lightweight, consumer-grade (Molchanov et al., 2016)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MediaPipe Hands (Zhang et al., 2020): 21 3-D landmarks, 30+ FPS on CPU; occlusion is key weakness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OpenPose (Cao et al., 2019): PAF-based multi-person detection; higher accuracy but heavier (&lt;15 FPS CPU)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Liang et al. (2016): virtual piano with RGB-D, &gt;90% accuracy but requires depth hardware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Hiranaka et al. (2022): augmented-reality piano with MediaPipe — 81% at 12 FPS; degrades on overlap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Lugaresi et al. (2019): temporal smoothing reduces jitter but adds latency on rapid movements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Pu et al. (2023): real-world occlusion &amp; rapid motion reduce detection more than controlled benchmarks show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C86C"/>
                </a:solidFill>
                <a:latin typeface="Calibri"/>
              </a:rPr>
              <a:t>Hardware &amp; software stack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Hardware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Casio CTK-2400 (61-key): USB MIDI output → ground truth keypresses via mido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Google Pixel 7 (USB Type-C): overhead camera via Android webcam/USB debug mode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Velbon tripod: fixed overhead angle — eliminates recording bias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MSI laptop (Intel i7-14th gen, RTX 5070 Mobile, 16 GB): CUDA-accelerated processing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Setup: camera ~90° overhead; captures both hands over one octave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181344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86C"/>
                </a:solidFill>
                <a:latin typeface="Calibri"/>
              </a:rPr>
              <a:t>  MIDI + video co-located → no secondary sync hardware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Software Components &amp; Libraries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Python 3.10 — compatibility with MediaPipe, OpenCV, CUDA-backed ML libraries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OpenCV (cv2) — USB capture, per-frame processing, homography transform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MediaPipe Hands — landmark model (21 keypoints), real-time, no GPU required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OpenPose — PAF-based keypoints; requires pre-cropped hand input for piano-scale video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mido + python-rtmidi 1.5.0 — low-latency MIDI capture, delta-tick MIDI export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NumPy / Pandas — MJMPE calculations, session data structuring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Matplotlib — result visualisation (bar charts, scatter plots, regression lines)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C86C"/>
                </a:solidFill>
                <a:latin typeface="Calibri"/>
              </a:rPr>
              <a:t>Rapid Application Development (RAD)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Methodology: Rapid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RAD chosen over Waterfall &amp; Agile — iterative cycles suited to a solo research project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Waterfall rejected: linear flow prevents adjustments mid-collection (MIDI sync issues would block progress)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Agile rejected: sprint/team ceremonies add overhead; sprint delivery ≠ statistical research output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RAD phases: Phase 1 (Wks 1–4) hardware &amp; setup · Phase 2 (Wks 5–8) pipeline dev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Phase 3 (Wks 9–12) data collection · Phase 4 (Wks 13–16) analysis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Phase 5 (Wks 17–20) report write-up, visualisation, conclusion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Flexibility proved critical: MIDI–video sync bug discovered &amp; resolved mid-development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C86C"/>
                </a:solidFill>
                <a:latin typeface="Calibri"/>
              </a:rPr>
              <a:t>Data collection pipeline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Data Collection Pipeline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Session initialised: participant ID auto-assigned → data saved to data/raw/p###/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Setup screen: manual entry of lux value, hand size (cm), Fitzpatrick type (auto ITA)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Recording: SPACE-press sets shared rec_t0 (time.perf_counter()) — anchors video AND MIDI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Overhead camera (Google Pixel 7) captures both hands over one octave at ~30 FPS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MIDI daemon thread polls every 1 ms — all events timestamped relative to rec_t0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Per-session outputs: .mp4, _frames.csv, _midi.jsonl, _midi.mid, _session.json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No PII stored — participant identity is the folder index p###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Participant &amp; Environmental Characterisation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Fitzpatrick skin type — ITA (Individual Typology Angle) method (Chardon 1991):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CIELab pixels sampled from palm convex hull (landmarks 0,1,5,9,13,17)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ITA = arctan(L*-50 / b*) × 180/π → maps to Type I–VI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Note: lighting variation caused per-frame shifts → final type confirmed manually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</a:t>
            </a:r>
          </a:p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Ambient illuminance — manual lux entry from phone sensor app: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Dim &lt; 100 lux | Indoor 100–499 lux | Bright ≥ 500 lux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</a:t>
            </a:r>
          </a:p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Hand size — tape-measured palm width (cm) entered on setup screen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C86C"/>
                </a:solidFill>
                <a:latin typeface="Calibri"/>
              </a:rPr>
              <a:t>MJMPE metric, polygon mask &amp; MIDI–video sync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MJMPE: Metric Design &amp; Bias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Initial 2-D Euclidean distance biased by finger length and camera depth angle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Fix 1 — Horizontal-only error:   h_err = |tip_x − key_center_x|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Eliminates y-axis variance (finger length, camera angle) → only x matters for key ID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Entire vertical length of the key acts as the 'centre' — no narrow hit zone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Fix 2 — Polygon containment (Sec 6.3.2): tip must lie INSIDE key boundary polygon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Three outcome categories per note_on: matched / detection_fail / missed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MJMPE accumulated only for matched events; detection_fail counted separately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Per-hand accumulator: L / R × fingers 0–4 (Thumb→Pinky)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181344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86C"/>
                </a:solidFill>
                <a:latin typeface="Calibri"/>
              </a:rPr>
              <a:t>  MJMPE metric isolates the dimension that determines which key was hit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Polygon Containment &amp; Perspective Homography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2-D mask overlaid on piano keys defines bounding polygon per key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MediaPipe handedness label (L/R) used for hand assignment — replaces screen-midpoint heuristic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Problem: camera never perfectly overhead → planar mask misaligns with real keys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Solution: perspective homography (cv2.getPerspectiveTransform) warps quadrilateral corners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Drag-corner calibration UI → H matrix computed once per session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Warped vertices recovered via de-homogenisation → mask follows oblique camera angle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Both models evaluated against the same warped polygon → comparison remains fair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Black-key region near C6 introduces minor perspective bias (both models equally affected)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MIDI–Video Temporal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Shared origin: rec_t0 = time.perf_counter() set at SPACE-press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MidiRecorder (daemon thread): polls port.iter_pending() every 1 ms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FrameLogger: records (frame_index, time_s) for every frame written to disk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At analysis time: binary search on frames.csv to find nearest frame to each MIDI event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Sub-frame precision — no manual labelling of video required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Graceful degradation: if no MIDI port found, recording continues (no crash)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Both MediaPipe &amp; OpenPose analyses share same aligned data → identical ground truth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Session Protocol — Three Standard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Pattern 1 — Five-Finger Position: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C-D-E-F-G ascending &amp; descending × 4 (no finger crossing, both hands)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</a:t>
            </a:r>
          </a:p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Pattern 2 — One-Octave C Major Scale: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C to C with one finger crossover (both hands)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</a:t>
            </a:r>
          </a:p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Pattern 3 — Black Key Pentatonic Scale: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C#-D#-F#-G#-A# ascending &amp; descending × 4 (tests black-key polygon accuracy)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</a:t>
            </a:r>
          </a:p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38 completed sessions · Types II–V · 7.7–12.2 cm · dim &amp; indoor lighting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C86C"/>
                </a:solidFill>
                <a:latin typeface="Calibri"/>
              </a:rPr>
              <a:t>Detection rate, MJMPE, skin tone, lighting &amp; hand size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737360"/>
            <a:ext cx="1645920" cy="29260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C86C"/>
                </a:solidFill>
                <a:latin typeface="Calibr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A"/>
                </a:solidFill>
                <a:latin typeface="Calibri"/>
              </a:rPr>
              <a:t>Sessions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737360"/>
            <a:ext cx="1645920" cy="29260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201168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C86C"/>
                </a:solidFill>
                <a:latin typeface="Calibri"/>
              </a:rPr>
              <a:t>4 777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2461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processed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7947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A"/>
                </a:solidFill>
                <a:latin typeface="Calibri"/>
              </a:rPr>
              <a:t>Note-on Events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737360"/>
            <a:ext cx="1645920" cy="29260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C86C"/>
                </a:solidFill>
                <a:latin typeface="Calibri"/>
              </a:rPr>
              <a:t>89 560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461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7947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A"/>
                </a:solidFill>
                <a:latin typeface="Calibri"/>
              </a:rPr>
              <a:t>Video Frames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737360"/>
            <a:ext cx="1645920" cy="29260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201168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C86C"/>
                </a:solidFill>
                <a:latin typeface="Calibri"/>
              </a:rPr>
              <a:t>II –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2461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represented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7947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A"/>
                </a:solidFill>
                <a:latin typeface="Calibri"/>
              </a:rPr>
              <a:t>Fitzpatrick Types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1737360"/>
            <a:ext cx="1645920" cy="29260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0" y="201168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E8C86C"/>
                </a:solidFill>
                <a:latin typeface="Calibri"/>
              </a:rPr>
              <a:t>7.7–12.2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cm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7947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A"/>
                </a:solidFill>
                <a:latin typeface="Calibri"/>
              </a:rPr>
              <a:t>Hand Sizes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1737360"/>
            <a:ext cx="1645920" cy="29260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0" y="2011680"/>
            <a:ext cx="15087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E8C86C"/>
                </a:solidFill>
                <a:latin typeface="Calibri"/>
              </a:rPr>
              <a:t>Dim + Indoor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2461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7947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A"/>
                </a:solidFill>
                <a:latin typeface="Calibri"/>
              </a:rPr>
              <a:t>Lighting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6181344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86C"/>
                </a:solidFill>
                <a:latin typeface="Calibri"/>
              </a:rPr>
              <a:t>  Most participants: Fitzpatrick III–IV · hand sizes &gt;10 cm · dim lighting majority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8.1 Overall Detection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5029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MediaPipe Hands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2E"/>
                </a:solidFill>
                <a:latin typeface="Calibri"/>
              </a:rPr>
              <a:t>• 3 017 / 4 764 events matched → 63.3% polygon hit rate</a:t>
            </a:r>
          </a:p>
          <a:p>
            <a:pPr algn="l"/>
            <a:r>
              <a:rPr sz="1600" b="0">
                <a:solidFill>
                  <a:srgbClr val="1C1C2E"/>
                </a:solidFill>
                <a:latin typeface="Calibri"/>
              </a:rPr>
              <a:t>• Detection fail (hand present, tip outside polygon): 28.7%</a:t>
            </a:r>
          </a:p>
          <a:p>
            <a:pPr algn="l"/>
            <a:r>
              <a:rPr sz="1600" b="0">
                <a:solidFill>
                  <a:srgbClr val="1C1C2E"/>
                </a:solidFill>
                <a:latin typeface="Calibri"/>
              </a:rPr>
              <a:t>• Missed (no hand landmarks): ~8%</a:t>
            </a:r>
          </a:p>
          <a:p>
            <a:pPr algn="l"/>
            <a:r>
              <a:rPr sz="1600" b="0">
                <a:solidFill>
                  <a:srgbClr val="1C1C2E"/>
                </a:solidFill>
                <a:latin typeface="Calibri"/>
              </a:rPr>
              <a:t>• Processes full-scene video directly</a:t>
            </a:r>
          </a:p>
          <a:p>
            <a:pPr algn="l"/>
            <a:r>
              <a:rPr sz="1600" b="0">
                <a:solidFill>
                  <a:srgbClr val="1C1C2E"/>
                </a:solidFill>
                <a:latin typeface="Calibri"/>
              </a:rPr>
              <a:t>• 30+ FPS on CPU — real-time capable</a:t>
            </a:r>
          </a:p>
          <a:p>
            <a:pPr algn="l"/>
            <a:r>
              <a:rPr sz="1600" b="0">
                <a:solidFill>
                  <a:srgbClr val="1C1C2E"/>
                </a:solidFill>
                <a:latin typeface="Calibri"/>
              </a:rPr>
              <a:t>• No preprocessing required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394960" cy="502920"/>
          </a:xfrm>
          <a:prstGeom prst="rect">
            <a:avLst/>
          </a:prstGeom>
          <a:solidFill>
            <a:srgbClr val="1B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070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OpenPose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2E"/>
                </a:solidFill>
                <a:latin typeface="Calibri"/>
              </a:rPr>
              <a:t>• 388 / 4 764 events matched → 8.1% polygon hit rate</a:t>
            </a:r>
          </a:p>
          <a:p>
            <a:pPr algn="l"/>
            <a:r>
              <a:rPr sz="1600" b="0">
                <a:solidFill>
                  <a:srgbClr val="1C1C2E"/>
                </a:solidFill>
                <a:latin typeface="Calibri"/>
              </a:rPr>
              <a:t>• Missed (no detection): 68.3% of events</a:t>
            </a:r>
          </a:p>
          <a:p>
            <a:pPr algn="l"/>
            <a:r>
              <a:rPr sz="1600" b="0">
                <a:solidFill>
                  <a:srgbClr val="1C1C2E"/>
                </a:solidFill>
                <a:latin typeface="Calibri"/>
              </a:rPr>
              <a:t>• Requires tightly cropped hand input (Simon et al., 2017)</a:t>
            </a:r>
          </a:p>
          <a:p>
            <a:pPr algn="l"/>
            <a:r>
              <a:rPr sz="1600" b="0">
                <a:solidFill>
                  <a:srgbClr val="1C1C2E"/>
                </a:solidFill>
                <a:latin typeface="Calibri"/>
              </a:rPr>
              <a:t>• Full-scene video → frequent miss, not detection fail</a:t>
            </a:r>
          </a:p>
          <a:p>
            <a:pPr algn="l"/>
            <a:r>
              <a:rPr sz="1600" b="0">
                <a:solidFill>
                  <a:srgbClr val="1C1C2E"/>
                </a:solidFill>
                <a:latin typeface="Calibri"/>
              </a:rPr>
              <a:t>• &lt;15 FPS on CPU — not real-time on standard hardware</a:t>
            </a:r>
          </a:p>
          <a:p>
            <a:pPr algn="l"/>
            <a:r>
              <a:rPr sz="1600" b="0">
                <a:solidFill>
                  <a:srgbClr val="1C1C2E"/>
                </a:solidFill>
                <a:latin typeface="Calibri"/>
              </a:rPr>
              <a:t>• Pre-crop preprocessing layer needed for fair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181344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86C"/>
                </a:solidFill>
                <a:latin typeface="Calibri"/>
              </a:rPr>
              <a:t>  For piano tutoring: no-detection is far worse than offset detection — MediaPipe wins on deployability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8.2 Overall MJMPE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737360"/>
            <a:ext cx="2011680" cy="29260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874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C86C"/>
                </a:solidFill>
                <a:latin typeface="Calibri"/>
              </a:rPr>
              <a:t>6.07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px (mean, n=3 017)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A"/>
                </a:solidFill>
                <a:latin typeface="Calibri"/>
              </a:rPr>
              <a:t>MediaPipe MJMPE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737360"/>
            <a:ext cx="2011680" cy="29260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2011680"/>
            <a:ext cx="1874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C86C"/>
                </a:solidFill>
                <a:latin typeface="Calibri"/>
              </a:rPr>
              <a:t>5.87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4612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px (mean, n=388)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7947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A"/>
                </a:solidFill>
                <a:latin typeface="Calibri"/>
              </a:rPr>
              <a:t>OpenPose MJMPE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1737360"/>
            <a:ext cx="2011680" cy="29260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2011680"/>
            <a:ext cx="1874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C86C"/>
                </a:solidFill>
                <a:latin typeface="Calibri"/>
              </a:rPr>
              <a:t>~10–11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24612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px at calibrated 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7947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A"/>
                </a:solidFill>
                <a:latin typeface="Calibri"/>
              </a:rPr>
              <a:t>Key-width threshold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737360"/>
            <a:ext cx="2011680" cy="29260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2011680"/>
            <a:ext cx="1874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C86C"/>
                </a:solidFill>
                <a:latin typeface="Calibri"/>
              </a:rPr>
              <a:t>63.3%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24612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polygon containment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7947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A"/>
                </a:solidFill>
                <a:latin typeface="Calibri"/>
              </a:rPr>
              <a:t>MediaPipe hit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1737360"/>
            <a:ext cx="2011680" cy="29260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0" y="2011680"/>
            <a:ext cx="1874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C86C"/>
                </a:solidFill>
                <a:latin typeface="Calibri"/>
              </a:rPr>
              <a:t>8.1%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24612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selection bias caveat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7947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A"/>
                </a:solidFill>
                <a:latin typeface="Calibri"/>
              </a:rPr>
              <a:t>OpenPose hit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6181344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86C"/>
                </a:solidFill>
                <a:latin typeface="Calibri"/>
              </a:rPr>
              <a:t>  Both models below threshold when detected — OpenPose advantage is on 8% of events only (selection bias)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8.2.3 MediaPipe Per-Finger MJMPE &amp; Polygon Hit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Ring &amp; Middle fingers show highest MJMPE — consistent with reduced anatomical independence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Thumb &amp; Index fingers show lowest MJMPE — most motor-independent digits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Right hand polygon hit rate: 95.8% | Left hand: 53.2% — same keys, same octave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Left–right asymmetry likely reflects participant right-handedness (inexperienced players)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Despite asymmetric hit rate, MJMPE near-identical: Left 6.13 px vs Right 6.02 px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OpenPose (combined L+R): Thumb highest MJMPE (6.9 px), Pinky lowest (4.4 px)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OpenPose per-finger from small n — treat as directional signal, not definitive benchmark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8.3 Effect of Skin Tone (Fitzpatrick Type) on MJMPE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MediaPipe Results (Types II–V):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Type II → 5.51 px | Type III → 6.39 px | Type IV → 6.39 px | Type V → 6.29 px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Total range: 0.88 px — within within-group standard deviation of any single type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Trend not monotonic → no systematic skin-tone bias for MediaPipe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</a:t>
            </a:r>
          </a:p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Detection-fail rate by type: Type II 16.8% (lowest) · Type III 32.8% (highest)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No consistent direction → MediaPipe shows equitable performance across tested range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</a:t>
            </a:r>
          </a:p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Limitation: Types I and VI not represented — unable to test extremes of scale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Future work: recruit Types I &amp; VI with larger balanced samples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8.4 Effect of Ambient Illuminance on MJMPE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MediaPipe (no meaningful difference):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Dim: 6.03 px (SD=1.16, n=28) | Indoor: 6.17 px (SD=0.76, n=10)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0.14 px gap — within standard deviation of both groups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Regression line nearly flat across lux range — lighting does not affect accuracy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Wide MJMPE spread within dim band → individual skill the dominant variance source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</a:t>
            </a:r>
          </a:p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OpenPose (selection bias):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Dim: 6.17 px | Indoor: 5.04 px — only 37 total detected sessions; reflects bias not lighting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</a:t>
            </a:r>
          </a:p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No bright (&gt;500 lux) or very dark (&lt;5 lux) sessions — gap for future research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8.5 Effect of Hand Size on MJMPE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MediaPipe regression (7.7–12.2 cm range):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Slope: 0.162 px/cm | Intercept: 4.40 px | R² = 0.030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Total MJMPE variation across full range: ~0.7 px — negligible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</a:t>
            </a:r>
          </a:p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OpenPose regression: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Slope: 0.336 px/cm | Intercept: 2.41 px | R² = 0.059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~1.5 px variation across range — also negligible; small n caveat applies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</a:t>
            </a:r>
          </a:p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Hand size explains &lt;6% of MJMPE variance for either model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Remaining variance: participant skill, playing style, session camera placement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Implication: no per-user hand-size calibration needed for a consumer piano tutor app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Novel Contributions &amp; Conclusion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Novel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1 · Synchronised multi-modal dataset: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38 sessions · MIDI note-on events + video frames + Fitzpatrick/lux/hand-size metadata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Fills gap between MAESTRO/MAPS (audio-only) and FreiHAND (keypoints, no MIDI)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</a:t>
            </a:r>
          </a:p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2 · Sub-frame MIDI–video temporal alignment: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Shared perf_counter origin → ground truth without manual frame labelling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</a:t>
            </a:r>
          </a:p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3 · Homography-calibrated 2-D polygon mask: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Handles oblique camera angles; isolates horizontal localisation error per key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</a:t>
            </a:r>
          </a:p>
          <a:p>
            <a:pPr algn="l"/>
            <a:r>
              <a:rPr sz="1800" b="1">
                <a:solidFill>
                  <a:srgbClr val="1C1C2E"/>
                </a:solidFill>
                <a:latin typeface="Calibri"/>
              </a:rPr>
              <a:t>• 4 · Horizontal-axis MJMPE metric: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Removes finger-length &amp; depth-angle bias present in prior full-2-D MPJPE metrics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MediaPipe is the clear choice for real-time piano tutoring — 63.3% polygon hit rate, 6.07 px MJMPE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OpenPose marginally better MJMPE (5.87 px) but only on 8.1% of events — not deployment-ready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MediaPipe: offset detections can be snapped to nearest key; no-detection (OpenPose) loses all info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Skin tone (II–V), lighting (dim/indoor) and hand size show negligible effect on MediaPipe accuracy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Large left–right polygon-hit asymmetry (53.2% vs 95.8%) likely user-skill artifact — needs study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Pipeline and dataset are open-source contributions enabling benchmarking of any new vision model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MediaPipe viable on decent mobile hardware — no additional cost for a consumer tutoring application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Recruit Fitzpatrick Type I &amp; VI participants — confirm equitable performance at extremes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Include participants under 18 (guardian consent) to test hand sizes &lt; 7.7 cm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Extend lighting range: very dark (&lt;5 lux) and outdoor bright (&gt;500 lux)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Add OpenPose preprocessing: tight hand-crop layer for fair MediaPipe vs OpenPose comparison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Implement Kalman filtering / optical-flow interpolation to reduce 28.7% detection-fail rate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Recruit experienced pianists for complex repertoire → occlusion stress-test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Investigate left–right MediaPipe polygon-hit asymmetry with controlled handedness study</a:t>
            </a:r>
          </a:p>
          <a:p>
            <a:pPr algn="l"/>
            <a:r>
              <a:rPr sz="1800" b="0">
                <a:solidFill>
                  <a:srgbClr val="1C1C2E"/>
                </a:solidFill>
                <a:latin typeface="Calibri"/>
              </a:rPr>
              <a:t>• Replace 2-D polygon mask with per-key depth-corrected mask for upper-register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181344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86C"/>
                </a:solidFill>
                <a:latin typeface="Calibri"/>
              </a:rPr>
              <a:t>  Dataset released as open-source benchmark for future vision-based instrument interaction research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0312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8C86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657A"/>
                </a:solidFill>
                <a:latin typeface="Calibri"/>
              </a:rPr>
              <a:t>Aayam Regmi · aayam.regmi2003@gmail.com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E8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30936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  <a:latin typeface="Calibri"/>
              </a:rPr>
              <a:t>BSc (Hons) Computing · The British College / Leeds Beckett University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2621</Words>
  <Application>Microsoft Office PowerPoint</Application>
  <PresentationFormat>Custom</PresentationFormat>
  <Paragraphs>254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Aayam Regmi</cp:lastModifiedBy>
  <cp:revision>2</cp:revision>
  <dcterms:created xsi:type="dcterms:W3CDTF">2013-01-27T09:14:16Z</dcterms:created>
  <dcterms:modified xsi:type="dcterms:W3CDTF">2026-05-03T15:36:45Z</dcterms:modified>
  <cp:category/>
</cp:coreProperties>
</file>