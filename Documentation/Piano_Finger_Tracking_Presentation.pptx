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9" r:id="rId4"/>
    <p:sldId id="260" r:id="rId5"/>
    <p:sldId id="261" r:id="rId6"/>
    <p:sldId id="267" r:id="rId7"/>
    <p:sldId id="268" r:id="rId8"/>
    <p:sldId id="269" r:id="rId9"/>
    <p:sldId id="270" r:id="rId10"/>
    <p:sldId id="273" r:id="rId11"/>
    <p:sldId id="271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83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DFEDDB-7C84-47F8-9600-D57E039387E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C90D84-8045-4642-B637-E5F8AA8B23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342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C90D84-8045-4642-B637-E5F8AA8B23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528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 Light"/>
              </a:rPr>
              <a:t>Comparative Evaluation of Vision-Based
Finger Tracking for Piano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77639"/>
            <a:ext cx="11338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C86C"/>
                </a:solidFill>
                <a:latin typeface="Calibri"/>
              </a:rPr>
              <a:t>MediaPipe Hands vs OpenPose · BSc (Hons) Computing · Production Project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30936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D1B2A"/>
                </a:solidFill>
                <a:latin typeface="Calibri"/>
              </a:rPr>
              <a:t>Aayam Regmi · The British College / Leeds Beckett University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 Light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8C86C"/>
                </a:solidFill>
                <a:latin typeface="Calibri"/>
              </a:rPr>
              <a:t>Research context, aims and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 Light"/>
              </a:rPr>
              <a:t>Introduction &amp; Research 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and landmarks detection on an image using Mediapipe - Analytics Vidhya">
            <a:extLst>
              <a:ext uri="{FF2B5EF4-FFF2-40B4-BE49-F238E27FC236}">
                <a16:creationId xmlns:a16="http://schemas.microsoft.com/office/drawing/2014/main" id="{4367E5CD-A08A-16BC-4B39-F4CBBB2C3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61" y="1599739"/>
            <a:ext cx="5766461" cy="3045412"/>
          </a:xfrm>
          <a:prstGeom prst="rect">
            <a:avLst/>
          </a:prstGeom>
        </p:spPr>
      </p:pic>
      <p:pic>
        <p:nvPicPr>
          <p:cNvPr id="7" name="Picture 6" descr="Training a Hand Detector like the OpenPose one in Tensorflow | by eidos.ai  | Medium">
            <a:extLst>
              <a:ext uri="{FF2B5EF4-FFF2-40B4-BE49-F238E27FC236}">
                <a16:creationId xmlns:a16="http://schemas.microsoft.com/office/drawing/2014/main" id="{C3CC3929-240C-2B00-04DC-39BDEC09C2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2" y="1599739"/>
            <a:ext cx="5481742" cy="30454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93330"/>
            <a:ext cx="112471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Evaluate vision-based hand tracking models for real-time piano performance monitoring</a:t>
            </a:r>
          </a:p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Ground truth: MIDI signals from Casio CTK-2400 synchronized with overhead video</a:t>
            </a:r>
          </a:p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Research question: Which model is better suited for a real-time piano tutor app?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B1F9F-0286-A651-B71A-B75FFA1F3A15}"/>
              </a:ext>
            </a:extLst>
          </p:cNvPr>
          <p:cNvSpPr txBox="1"/>
          <p:nvPr/>
        </p:nvSpPr>
        <p:spPr>
          <a:xfrm>
            <a:off x="1552235" y="1278374"/>
            <a:ext cx="3636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MediaPipe Hands Zhang et al. (2020)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D4961E-9523-74D6-2CCC-054C179953F8}"/>
              </a:ext>
            </a:extLst>
          </p:cNvPr>
          <p:cNvSpPr txBox="1"/>
          <p:nvPr/>
        </p:nvSpPr>
        <p:spPr>
          <a:xfrm>
            <a:off x="7216487" y="1273540"/>
            <a:ext cx="342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OpenPose Hands Cao et al. (2019)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 Light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8C86C"/>
                </a:solidFill>
                <a:latin typeface="Calibri"/>
              </a:rPr>
              <a:t>Prior work in hand tracking &amp; piano interaction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298838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Literature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96112"/>
            <a:ext cx="5166359" cy="339777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8CA5D7"/>
                </a:solidFill>
              </a:rPr>
              <a:t>📷  Kinect depth sensor
image placeholder</a:t>
            </a:r>
          </a:p>
          <a:p>
            <a:pPr algn="ctr"/>
            <a:r>
              <a:rPr sz="900" i="1" dirty="0">
                <a:solidFill>
                  <a:srgbClr val="738CBE"/>
                </a:solidFill>
              </a:rPr>
              <a:t>Han et al. (2013)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57220" y="896112"/>
            <a:ext cx="5902548" cy="339777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8CA5D7"/>
                </a:solidFill>
              </a:rPr>
              <a:t>🎹  AR piano overlay
on real keyboard</a:t>
            </a:r>
          </a:p>
          <a:p>
            <a:pPr algn="ctr"/>
            <a:r>
              <a:rPr sz="900" i="1">
                <a:solidFill>
                  <a:srgbClr val="738CBE"/>
                </a:solidFill>
              </a:rPr>
              <a:t>Hiranaka et al. (2022)</a:t>
            </a:r>
            <a:endParaRPr sz="900" i="1" dirty="0">
              <a:solidFill>
                <a:srgbClr val="738CBE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617720"/>
            <a:ext cx="11274425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dirty="0"/>
              <a:t>Kinect depth sensor -&gt; Extra coding complexity 3D processing requirement</a:t>
            </a:r>
          </a:p>
          <a:p>
            <a:pPr marL="171450" indent="-17145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dirty="0"/>
              <a:t>Molchanov et al. (2016): single-camera CNN landmark detection — no depth hardware needed</a:t>
            </a:r>
          </a:p>
          <a:p>
            <a:pPr marL="171450" indent="-17145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dirty="0"/>
              <a:t>Liang et al. (2016): RGB-D virtual piano (&gt;90% accuracy but requires depth camera)</a:t>
            </a:r>
          </a:p>
          <a:p>
            <a:pPr marL="171450" indent="-17145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dirty="0"/>
              <a:t>Lugaresi et al. (2019): temporal smoothing reduces jitter but adds latency on fast movements</a:t>
            </a:r>
          </a:p>
          <a:p>
            <a:pPr marL="171450" indent="-171450"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dirty="0"/>
              <a:t>Pu et al. (2023): real-world occlusion &amp; rapid motion reduce accuracy more than benchmarks</a:t>
            </a:r>
          </a:p>
        </p:txBody>
      </p:sp>
      <p:pic>
        <p:nvPicPr>
          <p:cNvPr id="12" name="Picture 11" descr="Kinect - Wikipedia">
            <a:extLst>
              <a:ext uri="{FF2B5EF4-FFF2-40B4-BE49-F238E27FC236}">
                <a16:creationId xmlns:a16="http://schemas.microsoft.com/office/drawing/2014/main" id="{78893C58-253D-3F0D-A187-47101290B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87" y="1013197"/>
            <a:ext cx="4833305" cy="2956846"/>
          </a:xfrm>
          <a:prstGeom prst="rect">
            <a:avLst/>
          </a:prstGeom>
        </p:spPr>
      </p:pic>
      <p:pic>
        <p:nvPicPr>
          <p:cNvPr id="13" name="Picture 12" descr="AR Piano Playing Using Real-Time Hand Tracking">
            <a:extLst>
              <a:ext uri="{FF2B5EF4-FFF2-40B4-BE49-F238E27FC236}">
                <a16:creationId xmlns:a16="http://schemas.microsoft.com/office/drawing/2014/main" id="{C3E185E9-9810-4983-523C-AE08BEE452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225" y="1123165"/>
            <a:ext cx="5464513" cy="230583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D5B6E1E-78AD-DC76-859C-7193E8B15A02}"/>
              </a:ext>
            </a:extLst>
          </p:cNvPr>
          <p:cNvSpPr txBox="1"/>
          <p:nvPr/>
        </p:nvSpPr>
        <p:spPr>
          <a:xfrm>
            <a:off x="-461142" y="3160906"/>
            <a:ext cx="441134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b="1" dirty="0"/>
              <a:t>📷  Kinect depth sensor
image placeholder</a:t>
            </a:r>
          </a:p>
          <a:p>
            <a:pPr algn="ctr"/>
            <a:r>
              <a:rPr lang="da-DK" sz="1600" i="1" dirty="0"/>
              <a:t>Han et al. (2013)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C7817B-8CA8-8E02-4AA8-E68E768247BB}"/>
              </a:ext>
            </a:extLst>
          </p:cNvPr>
          <p:cNvSpPr txBox="1"/>
          <p:nvPr/>
        </p:nvSpPr>
        <p:spPr>
          <a:xfrm>
            <a:off x="6740601" y="3448169"/>
            <a:ext cx="42537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8CA5D7"/>
                </a:solidFill>
              </a:rPr>
              <a:t>🎹  AR piano overlay
on real keyboard</a:t>
            </a:r>
          </a:p>
          <a:p>
            <a:pPr algn="ctr"/>
            <a:r>
              <a:rPr lang="en-US" sz="1600" i="1" dirty="0">
                <a:solidFill>
                  <a:srgbClr val="738CBE"/>
                </a:solidFill>
              </a:rPr>
              <a:t>Hiranaka et al. (2022)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 Light"/>
              </a:rP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8C86C"/>
                </a:solidFill>
                <a:latin typeface="Calibri"/>
              </a:rPr>
              <a:t>Data collection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560461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Data Collection Pipeline Overview</a:t>
            </a:r>
          </a:p>
        </p:txBody>
      </p:sp>
      <p:pic>
        <p:nvPicPr>
          <p:cNvPr id="3" name="Picture 2" descr="session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5029200" cy="568756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513832" y="914400"/>
            <a:ext cx="6483095" cy="411480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900" i="1" dirty="0">
              <a:solidFill>
                <a:srgbClr val="738CB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60720" y="5230368"/>
            <a:ext cx="5970905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dirty="0"/>
              <a:t>• SPACE-press sets shared rec_t0 → anchors video AND MIDI to same origin</a:t>
            </a:r>
          </a:p>
          <a:p>
            <a:pPr>
              <a:spcBef>
                <a:spcPts val="500"/>
              </a:spcBef>
            </a:pPr>
            <a:r>
              <a:rPr sz="1250" dirty="0"/>
              <a:t>• MIDI daemon thread polls every 1 </a:t>
            </a:r>
            <a:r>
              <a:rPr sz="1250" dirty="0" err="1"/>
              <a:t>ms</a:t>
            </a:r>
            <a:r>
              <a:rPr sz="1250" dirty="0"/>
              <a:t>  ·  video at ~30 FPS</a:t>
            </a:r>
          </a:p>
          <a:p>
            <a:pPr>
              <a:spcBef>
                <a:spcPts val="500"/>
              </a:spcBef>
            </a:pPr>
            <a:r>
              <a:rPr sz="1250" dirty="0"/>
              <a:t>• Output per session: .mp4  _frames.csv  _</a:t>
            </a:r>
            <a:r>
              <a:rPr sz="1250" dirty="0" err="1"/>
              <a:t>midi.jsonl</a:t>
            </a:r>
            <a:r>
              <a:rPr sz="1250" dirty="0"/>
              <a:t>  _midi.mid  _</a:t>
            </a:r>
            <a:r>
              <a:rPr sz="1250" dirty="0" err="1"/>
              <a:t>session.json</a:t>
            </a:r>
            <a:endParaRPr sz="1250" dirty="0"/>
          </a:p>
          <a:p>
            <a:pPr>
              <a:spcBef>
                <a:spcPts val="500"/>
              </a:spcBef>
            </a:pPr>
            <a:r>
              <a:rPr sz="1250" dirty="0"/>
              <a:t>• No PII stored — participant identity is folder index p### only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4B6FCE-FE9C-6D21-D79B-68CD7F344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3810" y="1246263"/>
            <a:ext cx="6343139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9773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Participant &amp; Environmental </a:t>
            </a:r>
            <a:r>
              <a:rPr sz="3000" b="1" dirty="0" err="1"/>
              <a:t>Characterisation</a:t>
            </a:r>
            <a:endParaRPr sz="3000" b="1" dirty="0"/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3514301" cy="347472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8CA5D7"/>
                </a:solidFill>
              </a:rPr>
              <a:t>Fitzpatrick scale
chart / diagram</a:t>
            </a:r>
          </a:p>
          <a:p>
            <a:pPr algn="ctr"/>
            <a:r>
              <a:rPr sz="900" i="1" dirty="0">
                <a:solidFill>
                  <a:srgbClr val="738CBE"/>
                </a:solidFill>
              </a:rPr>
              <a:t>Skin Tone (ITA method)</a:t>
            </a:r>
          </a:p>
        </p:txBody>
      </p:sp>
      <p:sp>
        <p:nvSpPr>
          <p:cNvPr id="4" name="Rectangle 3"/>
          <p:cNvSpPr/>
          <p:nvPr/>
        </p:nvSpPr>
        <p:spPr>
          <a:xfrm>
            <a:off x="4255101" y="960120"/>
            <a:ext cx="3737857" cy="347472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8CA5D7"/>
                </a:solidFill>
              </a:rPr>
              <a:t>Lux meter
phone app screenshot</a:t>
            </a:r>
          </a:p>
          <a:p>
            <a:pPr algn="ctr"/>
            <a:r>
              <a:rPr sz="900" i="1">
                <a:solidFill>
                  <a:srgbClr val="738CBE"/>
                </a:solidFill>
              </a:rPr>
              <a:t>Ambient Illuminance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17323" y="960120"/>
            <a:ext cx="3514301" cy="347472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i="1" dirty="0">
                <a:solidFill>
                  <a:srgbClr val="738CBE"/>
                </a:solidFill>
              </a:rPr>
              <a:t>Hand Size (cm)</a:t>
            </a:r>
            <a:r>
              <a:rPr lang="en-US" sz="900" b="1" dirty="0">
                <a:solidFill>
                  <a:srgbClr val="8CA5D7"/>
                </a:solidFill>
              </a:rPr>
              <a:t> Tape measure on
hand photograph</a:t>
            </a:r>
          </a:p>
          <a:p>
            <a:pPr algn="ctr"/>
            <a:endParaRPr sz="900" i="1" dirty="0">
              <a:solidFill>
                <a:srgbClr val="738CBE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0858" y="4498848"/>
            <a:ext cx="350698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 dirty="0"/>
              <a:t>Skin Tone (ITA method)</a:t>
            </a:r>
            <a:r>
              <a:rPr lang="en-US" sz="1400" i="1" dirty="0"/>
              <a:t> </a:t>
            </a:r>
            <a:r>
              <a:rPr lang="en-US" sz="1400" dirty="0"/>
              <a:t>(Chardon et al., 1991) </a:t>
            </a:r>
            <a:endParaRPr sz="1400" i="1" dirty="0"/>
          </a:p>
        </p:txBody>
      </p:sp>
      <p:sp>
        <p:nvSpPr>
          <p:cNvPr id="7" name="TextBox 6"/>
          <p:cNvSpPr txBox="1"/>
          <p:nvPr/>
        </p:nvSpPr>
        <p:spPr>
          <a:xfrm>
            <a:off x="5232641" y="4498848"/>
            <a:ext cx="172355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200" i="1" dirty="0"/>
              <a:t>Mobile phone Lux sensor</a:t>
            </a:r>
            <a:endParaRPr sz="1200" i="1" dirty="0"/>
          </a:p>
        </p:txBody>
      </p:sp>
      <p:sp>
        <p:nvSpPr>
          <p:cNvPr id="8" name="TextBox 7"/>
          <p:cNvSpPr txBox="1"/>
          <p:nvPr/>
        </p:nvSpPr>
        <p:spPr>
          <a:xfrm>
            <a:off x="9423168" y="4498848"/>
            <a:ext cx="110261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 dirty="0"/>
              <a:t>Hand Size (cm)</a:t>
            </a:r>
          </a:p>
        </p:txBody>
      </p:sp>
      <p:pic>
        <p:nvPicPr>
          <p:cNvPr id="10" name="Graphic 5">
            <a:extLst>
              <a:ext uri="{FF2B5EF4-FFF2-40B4-BE49-F238E27FC236}">
                <a16:creationId xmlns:a16="http://schemas.microsoft.com/office/drawing/2014/main" id="{DF203D16-C976-123C-ABA4-7486D7213F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0858" y="1512721"/>
            <a:ext cx="3513204" cy="2272855"/>
          </a:xfrm>
          <a:prstGeom prst="rect">
            <a:avLst/>
          </a:prstGeom>
        </p:spPr>
      </p:pic>
      <p:pic>
        <p:nvPicPr>
          <p:cNvPr id="11" name="Picture 10" descr="How it works: proximity sensor.. I recently had a phone screening for a… |  by Ray Acevedo | Medium">
            <a:extLst>
              <a:ext uri="{FF2B5EF4-FFF2-40B4-BE49-F238E27FC236}">
                <a16:creationId xmlns:a16="http://schemas.microsoft.com/office/drawing/2014/main" id="{9F640572-DCCD-9A37-0C4B-452754BDC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4335" y="1529320"/>
            <a:ext cx="3619389" cy="223965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Picture 11" descr="Fridja 60*Inches/150cm Length Soft Tape Measure Nepal | Ubuy">
            <a:extLst>
              <a:ext uri="{FF2B5EF4-FFF2-40B4-BE49-F238E27FC236}">
                <a16:creationId xmlns:a16="http://schemas.microsoft.com/office/drawing/2014/main" id="{A520AAAE-B4BD-FBB2-265D-97C614274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7323" y="1430464"/>
            <a:ext cx="3514301" cy="23637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 Light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8C86C"/>
                </a:solidFill>
                <a:latin typeface="Calibri"/>
              </a:rPr>
              <a:t>MPJPE metric, polygon mask &amp; MIDI–video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637713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000" b="1" dirty="0"/>
              <a:t>Polygon Hit rate using calibration mask</a:t>
            </a:r>
            <a:endParaRPr sz="3000" b="1" dirty="0"/>
          </a:p>
        </p:txBody>
      </p:sp>
      <p:sp>
        <p:nvSpPr>
          <p:cNvPr id="3" name="Rectangle 2"/>
          <p:cNvSpPr/>
          <p:nvPr/>
        </p:nvSpPr>
        <p:spPr>
          <a:xfrm>
            <a:off x="210312" y="813816"/>
            <a:ext cx="6071616" cy="5879592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900" i="1" dirty="0">
              <a:solidFill>
                <a:srgbClr val="738CBE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F50BA8-3BFB-8CB6-09E7-B6998F637B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889"/>
          <a:stretch>
            <a:fillRect/>
          </a:stretch>
        </p:blipFill>
        <p:spPr bwMode="auto">
          <a:xfrm>
            <a:off x="274320" y="881023"/>
            <a:ext cx="5943600" cy="292227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0299B7-FD21-51D1-DD93-ED03F9E5B3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440" b="12173"/>
          <a:stretch>
            <a:fillRect/>
          </a:stretch>
        </p:blipFill>
        <p:spPr bwMode="auto">
          <a:xfrm>
            <a:off x="275590" y="3965726"/>
            <a:ext cx="5942330" cy="2648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42A15B-F893-EEA2-3F13-9CC1D35CE1BF}"/>
              </a:ext>
            </a:extLst>
          </p:cNvPr>
          <p:cNvSpPr txBox="1"/>
          <p:nvPr/>
        </p:nvSpPr>
        <p:spPr>
          <a:xfrm>
            <a:off x="6400800" y="881023"/>
            <a:ext cx="5266944" cy="2344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500"/>
              </a:spcBef>
            </a:pPr>
            <a:r>
              <a:rPr lang="en-US" sz="1400" dirty="0"/>
              <a:t>• Polygon containment: tip must lie INSIDE key boundary — 3 outcomes: matched / </a:t>
            </a:r>
            <a:r>
              <a:rPr lang="en-US" sz="1400" dirty="0" err="1"/>
              <a:t>detection_fail</a:t>
            </a:r>
            <a:r>
              <a:rPr lang="en-US" sz="1400" dirty="0"/>
              <a:t> / missed</a:t>
            </a:r>
          </a:p>
          <a:p>
            <a:pPr>
              <a:spcBef>
                <a:spcPts val="500"/>
              </a:spcBef>
            </a:pPr>
            <a:r>
              <a:rPr lang="en-US" sz="1400" dirty="0"/>
              <a:t>• MPJPE accumulated only for matched events · </a:t>
            </a:r>
            <a:r>
              <a:rPr lang="en-US" sz="1400" dirty="0" err="1"/>
              <a:t>detection_fail</a:t>
            </a:r>
            <a:r>
              <a:rPr lang="en-US" sz="1400" dirty="0"/>
              <a:t> tracked separately</a:t>
            </a:r>
          </a:p>
          <a:p>
            <a:pPr>
              <a:spcBef>
                <a:spcPts val="500"/>
              </a:spcBef>
            </a:pPr>
            <a:r>
              <a:rPr lang="en-US" sz="1400" dirty="0"/>
              <a:t>• Per-hand: L / R × fingers 0–4  ·  key assignment: </a:t>
            </a:r>
            <a:r>
              <a:rPr lang="en-US" sz="1400" dirty="0" err="1"/>
              <a:t>key_cx</a:t>
            </a:r>
            <a:r>
              <a:rPr lang="en-US" sz="1400" dirty="0"/>
              <a:t> relative to frame midpoint</a:t>
            </a:r>
          </a:p>
          <a:p>
            <a:endParaRPr lang="en-US" dirty="0"/>
          </a:p>
          <a:p>
            <a:r>
              <a:rPr lang="en-US" dirty="0"/>
              <a:t>Perspective homography transformation matrix calibration for polygon wrap Siddique et al. (2019)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651883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MPJPE: Metric Design &amp; Bias Reduction</a:t>
            </a:r>
            <a:r>
              <a:rPr lang="en-US" sz="3000" b="1" dirty="0"/>
              <a:t> </a:t>
            </a:r>
            <a:endParaRPr sz="3000" b="1" dirty="0"/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5303520" cy="5779008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900" i="1" dirty="0">
              <a:solidFill>
                <a:srgbClr val="738CBE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89320" y="914400"/>
            <a:ext cx="5760720" cy="214884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8CA5D7"/>
                </a:solidFill>
              </a:rPr>
              <a:t>Horizontal error diagram
</a:t>
            </a:r>
            <a:r>
              <a:rPr b="1" dirty="0" err="1">
                <a:solidFill>
                  <a:srgbClr val="8CA5D7"/>
                </a:solidFill>
              </a:rPr>
              <a:t>h_err</a:t>
            </a:r>
            <a:r>
              <a:rPr b="1" dirty="0">
                <a:solidFill>
                  <a:srgbClr val="8CA5D7"/>
                </a:solidFill>
              </a:rPr>
              <a:t> = |</a:t>
            </a:r>
            <a:r>
              <a:rPr b="1" dirty="0" err="1">
                <a:solidFill>
                  <a:srgbClr val="8CA5D7"/>
                </a:solidFill>
              </a:rPr>
              <a:t>tip_x</a:t>
            </a:r>
            <a:r>
              <a:rPr b="1" dirty="0">
                <a:solidFill>
                  <a:srgbClr val="8CA5D7"/>
                </a:solidFill>
              </a:rPr>
              <a:t> − </a:t>
            </a:r>
            <a:r>
              <a:rPr b="1" dirty="0" err="1">
                <a:solidFill>
                  <a:srgbClr val="8CA5D7"/>
                </a:solidFill>
              </a:rPr>
              <a:t>key_cx</a:t>
            </a:r>
            <a:r>
              <a:rPr b="1" dirty="0">
                <a:solidFill>
                  <a:srgbClr val="8CA5D7"/>
                </a:solidFill>
              </a:rPr>
              <a:t>|</a:t>
            </a:r>
          </a:p>
          <a:p>
            <a:pPr algn="ctr"/>
            <a:r>
              <a:rPr i="1" dirty="0">
                <a:solidFill>
                  <a:srgbClr val="738CBE"/>
                </a:solidFill>
              </a:rPr>
              <a:t>2-D Euclidean → x-axis only · removes finger-length bias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9320" y="3246120"/>
            <a:ext cx="5760720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/>
              <a:t>• Horizontal-only: </a:t>
            </a:r>
            <a:r>
              <a:rPr sz="1200" dirty="0" err="1"/>
              <a:t>h_err</a:t>
            </a:r>
            <a:r>
              <a:rPr sz="1200" dirty="0"/>
              <a:t> = |</a:t>
            </a:r>
            <a:r>
              <a:rPr sz="1200" dirty="0" err="1"/>
              <a:t>tip_x</a:t>
            </a:r>
            <a:r>
              <a:rPr sz="1200" dirty="0"/>
              <a:t> − </a:t>
            </a:r>
            <a:r>
              <a:rPr sz="1200" dirty="0" err="1"/>
              <a:t>key_cx</a:t>
            </a:r>
            <a:r>
              <a:rPr sz="1200" dirty="0"/>
              <a:t>| — removes depth/angle bias entirely</a:t>
            </a:r>
          </a:p>
          <a:p>
            <a:pPr>
              <a:spcBef>
                <a:spcPts val="500"/>
              </a:spcBef>
            </a:pPr>
            <a:r>
              <a:rPr lang="en-US" sz="1200" dirty="0"/>
              <a:t>For recording: </a:t>
            </a:r>
          </a:p>
          <a:p>
            <a:pPr>
              <a:spcBef>
                <a:spcPts val="500"/>
              </a:spcBef>
            </a:pPr>
            <a:r>
              <a:rPr lang="en-US" sz="1200" dirty="0"/>
              <a:t>• Shared origin: rec_t0 = </a:t>
            </a:r>
            <a:r>
              <a:rPr lang="en-US" sz="1200" dirty="0" err="1"/>
              <a:t>time.perf_counter</a:t>
            </a:r>
            <a:r>
              <a:rPr lang="en-US" sz="1200" dirty="0"/>
              <a:t>() set at SPACE-press meaning MIDI signals and video data is aligned</a:t>
            </a:r>
          </a:p>
          <a:p>
            <a:pPr>
              <a:spcBef>
                <a:spcPts val="500"/>
              </a:spcBef>
            </a:pPr>
            <a:r>
              <a:rPr lang="en-US" sz="1200" dirty="0"/>
              <a:t>• Sub-frame precision — no manual video labelling required</a:t>
            </a:r>
          </a:p>
          <a:p>
            <a:pPr>
              <a:spcBef>
                <a:spcPts val="500"/>
              </a:spcBef>
            </a:pPr>
            <a:endParaRPr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983E82-07CC-421E-1728-6B98072667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20" t="29611" r="32180"/>
          <a:stretch>
            <a:fillRect/>
          </a:stretch>
        </p:blipFill>
        <p:spPr>
          <a:xfrm>
            <a:off x="850392" y="980946"/>
            <a:ext cx="4425696" cy="28691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FA451B-8028-8994-9F6B-BA0E55E85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4273014"/>
            <a:ext cx="4599432" cy="19975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2A322CD-A997-30E8-848D-198D3B15BDD3}"/>
              </a:ext>
            </a:extLst>
          </p:cNvPr>
          <p:cNvSpPr txBox="1"/>
          <p:nvPr/>
        </p:nvSpPr>
        <p:spPr>
          <a:xfrm>
            <a:off x="1152144" y="3896356"/>
            <a:ext cx="3822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Before vs After horizontal only error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 Light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8C86C"/>
                </a:solidFill>
                <a:latin typeface="Calibri"/>
              </a:rPr>
              <a:t>Detection rate, MPJPE, skin tone, lighting &amp; hand size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302435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Dataset Overview</a:t>
            </a:r>
          </a:p>
        </p:txBody>
      </p:sp>
      <p:pic>
        <p:nvPicPr>
          <p:cNvPr id="3" name="Picture 2" descr="00_participan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10698480" cy="39528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49240"/>
            <a:ext cx="11274425" cy="772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 dirty="0"/>
              <a:t>38 sessions  ·  4 777 note-on events  ·  89 560 video frames</a:t>
            </a:r>
          </a:p>
          <a:p>
            <a:pPr>
              <a:spcBef>
                <a:spcPts val="500"/>
              </a:spcBef>
            </a:pPr>
            <a:r>
              <a:rPr sz="2000" dirty="0"/>
              <a:t>Fitzpatrick types II–V  ·  hand sizes 7.7–12.2 cm  ·  dim &amp; indoor lighting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435850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8.1 Overall Detection Rate</a:t>
            </a:r>
          </a:p>
        </p:txBody>
      </p:sp>
      <p:pic>
        <p:nvPicPr>
          <p:cNvPr id="3" name="Picture 2" descr="03_detection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577840" cy="4618754"/>
          </a:xfrm>
          <a:prstGeom prst="rect">
            <a:avLst/>
          </a:prstGeom>
        </p:spPr>
      </p:pic>
      <p:pic>
        <p:nvPicPr>
          <p:cNvPr id="4" name="Picture 3" descr="14_mediapipe_per_hand_hit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4400"/>
            <a:ext cx="5486400" cy="45492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33154"/>
            <a:ext cx="11274425" cy="797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dirty="0"/>
              <a:t>• MediaPipe: 63.3% matched  ·  28.7% detection-fail  ·  ~8% missed — real-time capable (30+ FPS)</a:t>
            </a:r>
          </a:p>
          <a:p>
            <a:pPr>
              <a:spcBef>
                <a:spcPts val="500"/>
              </a:spcBef>
            </a:pPr>
            <a:r>
              <a:rPr sz="1250" dirty="0"/>
              <a:t>• OpenPose: 8.1% matched  ·  68.3% missed — requires hand-crop preprocessing; not real-time on CPU</a:t>
            </a:r>
          </a:p>
          <a:p>
            <a:pPr>
              <a:spcBef>
                <a:spcPts val="500"/>
              </a:spcBef>
            </a:pPr>
            <a:r>
              <a:rPr sz="1250" dirty="0"/>
              <a:t>• No-detection (OpenPose) loses all info; detection-fail (MediaPipe) can be snapped to nearest key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503227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8.2 Overall MPJPE Comparison</a:t>
            </a:r>
          </a:p>
        </p:txBody>
      </p:sp>
      <p:pic>
        <p:nvPicPr>
          <p:cNvPr id="3" name="Picture 2" descr="01_model_comparison_mpj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28" y="822960"/>
            <a:ext cx="5001768" cy="4124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111496"/>
            <a:ext cx="11274425" cy="797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dirty="0"/>
              <a:t>• MediaPipe: 6.07 </a:t>
            </a:r>
            <a:r>
              <a:rPr sz="1250" dirty="0" err="1"/>
              <a:t>px</a:t>
            </a:r>
            <a:r>
              <a:rPr sz="1250" dirty="0"/>
              <a:t> (n=3 017)  ·  OpenPose: 5.87 </a:t>
            </a:r>
            <a:r>
              <a:rPr sz="1250" dirty="0" err="1"/>
              <a:t>px</a:t>
            </a:r>
            <a:r>
              <a:rPr sz="1250" dirty="0"/>
              <a:t> (n=388)  ·  key half-width ≈ 10–11 </a:t>
            </a:r>
            <a:r>
              <a:rPr sz="1250" dirty="0" err="1"/>
              <a:t>px</a:t>
            </a:r>
            <a:endParaRPr sz="1250" dirty="0"/>
          </a:p>
          <a:p>
            <a:pPr>
              <a:spcBef>
                <a:spcPts val="500"/>
              </a:spcBef>
            </a:pPr>
            <a:r>
              <a:rPr sz="1250" dirty="0"/>
              <a:t>• OpenPose marginally lower MPJPE but on only 8.1% of events — selection bias, not true advantage</a:t>
            </a:r>
          </a:p>
          <a:p>
            <a:pPr>
              <a:spcBef>
                <a:spcPts val="500"/>
              </a:spcBef>
            </a:pPr>
            <a:r>
              <a:rPr sz="1250" dirty="0"/>
              <a:t>• Both models below key-width threshold when detected; OpenPose unusable due to detection rate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7116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8.2.3 MediaPipe Per-Finger MPJPE &amp; Polygon Hit Rate</a:t>
            </a:r>
          </a:p>
        </p:txBody>
      </p:sp>
      <p:pic>
        <p:nvPicPr>
          <p:cNvPr id="3" name="Picture 2" descr="02_per_finger_mpjpe_media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25504"/>
            <a:ext cx="6675120" cy="2768828"/>
          </a:xfrm>
          <a:prstGeom prst="rect">
            <a:avLst/>
          </a:prstGeom>
        </p:spPr>
      </p:pic>
      <p:pic>
        <p:nvPicPr>
          <p:cNvPr id="4" name="Picture 3" descr="14_mediapipe_per_hand_hit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914400"/>
            <a:ext cx="4572000" cy="3791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74920"/>
            <a:ext cx="11274425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dirty="0"/>
              <a:t>• Ring &amp; Middle: highest MPJPE — anatomically less independent digits</a:t>
            </a:r>
          </a:p>
          <a:p>
            <a:pPr>
              <a:spcBef>
                <a:spcPts val="500"/>
              </a:spcBef>
            </a:pPr>
            <a:r>
              <a:rPr sz="1250" dirty="0"/>
              <a:t>• Thumb &amp; Index: lowest MPJPE — most motor-independent</a:t>
            </a:r>
          </a:p>
          <a:p>
            <a:pPr>
              <a:spcBef>
                <a:spcPts val="500"/>
              </a:spcBef>
            </a:pPr>
            <a:r>
              <a:rPr sz="1250" dirty="0"/>
              <a:t>• Right hand 95.8% hit rate vs Left 53.2% — right-hand dominance artifact, not model failure</a:t>
            </a:r>
          </a:p>
          <a:p>
            <a:pPr>
              <a:spcBef>
                <a:spcPts val="500"/>
              </a:spcBef>
            </a:pPr>
            <a:r>
              <a:rPr sz="1250" dirty="0"/>
              <a:t>• Despite asymmetric hit rate: Left 6.13 </a:t>
            </a:r>
            <a:r>
              <a:rPr sz="1250" dirty="0" err="1"/>
              <a:t>px</a:t>
            </a:r>
            <a:r>
              <a:rPr sz="1250" dirty="0"/>
              <a:t> vs Right 6.02 </a:t>
            </a:r>
            <a:r>
              <a:rPr sz="1250" dirty="0" err="1"/>
              <a:t>px</a:t>
            </a:r>
            <a:r>
              <a:rPr sz="1250" dirty="0"/>
              <a:t> — near-identical MPJPE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14428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8.3 Effect of Skin Tone (Fitzpatrick Type) on MPJPE</a:t>
            </a:r>
          </a:p>
        </p:txBody>
      </p:sp>
      <p:pic>
        <p:nvPicPr>
          <p:cNvPr id="3" name="Picture 2" descr="05_mpjpe_by_fitzpatr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760720" cy="4061475"/>
          </a:xfrm>
          <a:prstGeom prst="rect">
            <a:avLst/>
          </a:prstGeom>
        </p:spPr>
      </p:pic>
      <p:pic>
        <p:nvPicPr>
          <p:cNvPr id="4" name="Picture 3" descr="09_detection_fail_by_fitzpatri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14400"/>
            <a:ext cx="5486400" cy="38521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74920"/>
            <a:ext cx="11274425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dirty="0"/>
              <a:t>• MediaPipe MPJPE range: Type II 5.51 </a:t>
            </a:r>
            <a:r>
              <a:rPr sz="1250" dirty="0" err="1"/>
              <a:t>px</a:t>
            </a:r>
            <a:r>
              <a:rPr sz="1250" dirty="0"/>
              <a:t> → Type V 6.29 </a:t>
            </a:r>
            <a:r>
              <a:rPr sz="1250" dirty="0" err="1"/>
              <a:t>px</a:t>
            </a:r>
            <a:r>
              <a:rPr sz="1250" dirty="0"/>
              <a:t>  ·  total range 0.88 </a:t>
            </a:r>
            <a:r>
              <a:rPr sz="1250" dirty="0" err="1"/>
              <a:t>px</a:t>
            </a:r>
            <a:r>
              <a:rPr sz="1250" dirty="0"/>
              <a:t> (within SD)</a:t>
            </a:r>
          </a:p>
          <a:p>
            <a:pPr>
              <a:spcBef>
                <a:spcPts val="500"/>
              </a:spcBef>
            </a:pPr>
            <a:r>
              <a:rPr sz="1250" dirty="0"/>
              <a:t>• Trend not monotonic → no systematic skin-tone bias across tested range</a:t>
            </a:r>
          </a:p>
          <a:p>
            <a:pPr>
              <a:spcBef>
                <a:spcPts val="500"/>
              </a:spcBef>
            </a:pPr>
            <a:r>
              <a:rPr sz="1250" dirty="0"/>
              <a:t>• Detection-fail: Type III 32.8% (highest) vs Type II 16.8% — no consistent direction</a:t>
            </a:r>
          </a:p>
          <a:p>
            <a:pPr>
              <a:spcBef>
                <a:spcPts val="500"/>
              </a:spcBef>
            </a:pPr>
            <a:r>
              <a:rPr sz="1250" dirty="0"/>
              <a:t>• Types I &amp; VI not represented — unable to test extremes of Fitzpatrick scale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11880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8.4 Effect of Ambient Illuminance on MPJPE</a:t>
            </a:r>
          </a:p>
        </p:txBody>
      </p:sp>
      <p:pic>
        <p:nvPicPr>
          <p:cNvPr id="3" name="Picture 2" descr="04_mpjpe_by_l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577840" cy="3056523"/>
          </a:xfrm>
          <a:prstGeom prst="rect">
            <a:avLst/>
          </a:prstGeom>
        </p:spPr>
      </p:pic>
      <p:pic>
        <p:nvPicPr>
          <p:cNvPr id="4" name="Picture 3" descr="16_mpjpe_vs_lux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914400"/>
            <a:ext cx="5760720" cy="31567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773168"/>
            <a:ext cx="11274425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dirty="0"/>
              <a:t>• MediaPipe: Dim 6.03 </a:t>
            </a:r>
            <a:r>
              <a:rPr sz="1250" dirty="0" err="1"/>
              <a:t>px</a:t>
            </a:r>
            <a:r>
              <a:rPr sz="1250" dirty="0"/>
              <a:t> (SD=1.16) vs Indoor 6.17 </a:t>
            </a:r>
            <a:r>
              <a:rPr sz="1250" dirty="0" err="1"/>
              <a:t>px</a:t>
            </a:r>
            <a:r>
              <a:rPr sz="1250" dirty="0"/>
              <a:t> (SD=0.76) — 0.14 </a:t>
            </a:r>
            <a:r>
              <a:rPr sz="1250" dirty="0" err="1"/>
              <a:t>px</a:t>
            </a:r>
            <a:r>
              <a:rPr sz="1250" dirty="0"/>
              <a:t> gap, within SD</a:t>
            </a:r>
          </a:p>
          <a:p>
            <a:pPr>
              <a:spcBef>
                <a:spcPts val="500"/>
              </a:spcBef>
            </a:pPr>
            <a:r>
              <a:rPr lang="en-US" sz="1250" dirty="0"/>
              <a:t>• Regression nearly flat across full lux range — lighting does not affect MediaPipe accuracy</a:t>
            </a:r>
            <a:endParaRPr sz="1250" dirty="0"/>
          </a:p>
          <a:p>
            <a:pPr>
              <a:spcBef>
                <a:spcPts val="500"/>
              </a:spcBef>
            </a:pPr>
            <a:r>
              <a:rPr sz="1250" dirty="0"/>
              <a:t>• </a:t>
            </a:r>
            <a:r>
              <a:rPr lang="en-US" sz="1250" dirty="0"/>
              <a:t>Widespread</a:t>
            </a:r>
            <a:r>
              <a:rPr sz="1250" dirty="0"/>
              <a:t> within dim band → individual skill is the dominant variance source, not lighting</a:t>
            </a:r>
          </a:p>
          <a:p>
            <a:pPr>
              <a:spcBef>
                <a:spcPts val="500"/>
              </a:spcBef>
            </a:pPr>
            <a:r>
              <a:rPr sz="1250" dirty="0"/>
              <a:t>• No bright (&gt;500 lux) sessions recorded — gap for future research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533915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8.5 Effect of Hand Size on MPJPE</a:t>
            </a:r>
          </a:p>
        </p:txBody>
      </p:sp>
      <p:pic>
        <p:nvPicPr>
          <p:cNvPr id="3" name="Picture 2" descr="06_mpjpe_vs_hand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08" y="822960"/>
            <a:ext cx="6464808" cy="39913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74920"/>
            <a:ext cx="11274425" cy="797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dirty="0"/>
              <a:t>• MediaPipe: slope 0.162 </a:t>
            </a:r>
            <a:r>
              <a:rPr sz="1250" dirty="0" err="1"/>
              <a:t>px</a:t>
            </a:r>
            <a:r>
              <a:rPr sz="1250" dirty="0"/>
              <a:t>/cm  ·  R² = 0.030 — total variation ~0.7 </a:t>
            </a:r>
            <a:r>
              <a:rPr sz="1250" dirty="0" err="1"/>
              <a:t>px</a:t>
            </a:r>
            <a:r>
              <a:rPr sz="1250" dirty="0"/>
              <a:t> across full range</a:t>
            </a:r>
          </a:p>
          <a:p>
            <a:pPr>
              <a:spcBef>
                <a:spcPts val="500"/>
              </a:spcBef>
            </a:pPr>
            <a:r>
              <a:rPr sz="1250" dirty="0"/>
              <a:t>• OpenPose: slope 0.336 </a:t>
            </a:r>
            <a:r>
              <a:rPr sz="1250" dirty="0" err="1"/>
              <a:t>px</a:t>
            </a:r>
            <a:r>
              <a:rPr sz="1250" dirty="0"/>
              <a:t>/cm  ·  R² = 0.059 — also negligible (small n caveat applies)</a:t>
            </a:r>
          </a:p>
          <a:p>
            <a:pPr>
              <a:spcBef>
                <a:spcPts val="500"/>
              </a:spcBef>
            </a:pPr>
            <a:r>
              <a:rPr sz="1250" dirty="0"/>
              <a:t>• Hand size explains &lt;6% of MPJPE variance — no per-user hand-size calibration needed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 Light"/>
              </a:rPr>
              <a:t>Novel Contributions &amp; Conclusion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 Light"/>
              </a:rPr>
              <a:t>Novel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1C2E"/>
                </a:solidFill>
                <a:latin typeface="Calibri"/>
              </a:rPr>
              <a:t>• 1 · Synchronised multi-modal dataset:</a:t>
            </a:r>
          </a:p>
          <a:p>
            <a:pPr algn="l"/>
            <a:r>
              <a:rPr sz="1800" b="0">
                <a:solidFill>
                  <a:srgbClr val="1C1C2E"/>
                </a:solidFill>
                <a:latin typeface="Calibri"/>
              </a:rPr>
              <a:t>• 38 sessions · MIDI note-on events + video frames + Fitzpatrick/lux/hand-size metadata</a:t>
            </a:r>
          </a:p>
          <a:p>
            <a:pPr algn="l"/>
            <a:r>
              <a:rPr sz="1800" b="0">
                <a:solidFill>
                  <a:srgbClr val="1C1C2E"/>
                </a:solidFill>
                <a:latin typeface="Calibri"/>
              </a:rPr>
              <a:t>• Fills gap between MAESTRO/MAPS (audio-only) and FreiHAND (keypoints, no MIDI)</a:t>
            </a:r>
          </a:p>
          <a:p>
            <a:pPr algn="l"/>
            <a:r>
              <a:rPr sz="1800" b="0">
                <a:solidFill>
                  <a:srgbClr val="1C1C2E"/>
                </a:solidFill>
                <a:latin typeface="Calibri"/>
              </a:rPr>
              <a:t>• </a:t>
            </a:r>
          </a:p>
          <a:p>
            <a:pPr algn="l"/>
            <a:r>
              <a:rPr sz="1800" b="1">
                <a:solidFill>
                  <a:srgbClr val="1C1C2E"/>
                </a:solidFill>
                <a:latin typeface="Calibri"/>
              </a:rPr>
              <a:t>• 2 · Sub-frame MIDI–video temporal alignment:</a:t>
            </a:r>
          </a:p>
          <a:p>
            <a:pPr algn="l"/>
            <a:r>
              <a:rPr sz="1800" b="0">
                <a:solidFill>
                  <a:srgbClr val="1C1C2E"/>
                </a:solidFill>
                <a:latin typeface="Calibri"/>
              </a:rPr>
              <a:t>• Shared perf_counter origin → ground truth without manual frame labelling</a:t>
            </a:r>
          </a:p>
          <a:p>
            <a:pPr algn="l"/>
            <a:r>
              <a:rPr sz="1800" b="0">
                <a:solidFill>
                  <a:srgbClr val="1C1C2E"/>
                </a:solidFill>
                <a:latin typeface="Calibri"/>
              </a:rPr>
              <a:t>• </a:t>
            </a:r>
          </a:p>
          <a:p>
            <a:pPr algn="l"/>
            <a:r>
              <a:rPr sz="1800" b="1">
                <a:solidFill>
                  <a:srgbClr val="1C1C2E"/>
                </a:solidFill>
                <a:latin typeface="Calibri"/>
              </a:rPr>
              <a:t>• 3 · Homography-calibrated 2-D polygon mask:</a:t>
            </a:r>
          </a:p>
          <a:p>
            <a:pPr algn="l"/>
            <a:r>
              <a:rPr sz="1800" b="0">
                <a:solidFill>
                  <a:srgbClr val="1C1C2E"/>
                </a:solidFill>
                <a:latin typeface="Calibri"/>
              </a:rPr>
              <a:t>• Handles oblique camera angles; isolates horizontal localisation error per key</a:t>
            </a:r>
          </a:p>
          <a:p>
            <a:pPr algn="l"/>
            <a:r>
              <a:rPr sz="1800" b="0">
                <a:solidFill>
                  <a:srgbClr val="1C1C2E"/>
                </a:solidFill>
                <a:latin typeface="Calibri"/>
              </a:rPr>
              <a:t>• </a:t>
            </a:r>
          </a:p>
          <a:p>
            <a:pPr algn="l"/>
            <a:r>
              <a:rPr sz="1800" b="1">
                <a:solidFill>
                  <a:srgbClr val="1C1C2E"/>
                </a:solidFill>
                <a:latin typeface="Calibri"/>
              </a:rPr>
              <a:t>• 4 · Horizontal-axis MPJPE metric:</a:t>
            </a:r>
          </a:p>
          <a:p>
            <a:pPr algn="l"/>
            <a:r>
              <a:rPr sz="1800" b="0">
                <a:solidFill>
                  <a:srgbClr val="1C1C2E"/>
                </a:solidFill>
                <a:latin typeface="Calibri"/>
              </a:rPr>
              <a:t>• Removes finger-length &amp; depth-angle bias present in prior full-2-D MPJPE metrics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 Light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MediaPipe is the clear choice for real-time piano tutoring — 63.3% polygon hit rate, 6.07 </a:t>
            </a:r>
            <a:r>
              <a:rPr sz="1800" b="0" dirty="0" err="1">
                <a:solidFill>
                  <a:srgbClr val="1C1C2E"/>
                </a:solidFill>
                <a:latin typeface="Calibri"/>
              </a:rPr>
              <a:t>px</a:t>
            </a:r>
            <a:r>
              <a:rPr sz="1800" b="0" dirty="0">
                <a:solidFill>
                  <a:srgbClr val="1C1C2E"/>
                </a:solidFill>
                <a:latin typeface="Calibri"/>
              </a:rPr>
              <a:t> MPJPE</a:t>
            </a:r>
          </a:p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OpenPose marginally better MPJPE (5.87 </a:t>
            </a:r>
            <a:r>
              <a:rPr sz="1800" b="0" dirty="0" err="1">
                <a:solidFill>
                  <a:srgbClr val="1C1C2E"/>
                </a:solidFill>
                <a:latin typeface="Calibri"/>
              </a:rPr>
              <a:t>px</a:t>
            </a:r>
            <a:r>
              <a:rPr sz="1800" b="0" dirty="0">
                <a:solidFill>
                  <a:srgbClr val="1C1C2E"/>
                </a:solidFill>
                <a:latin typeface="Calibri"/>
              </a:rPr>
              <a:t>) but only on 8.1% of events — not deployment-ready</a:t>
            </a:r>
          </a:p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MediaPipe: offset detections can be snapped to nearest key; no-detection (OpenPose) loses all info</a:t>
            </a:r>
          </a:p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Skin tone (II–V), lighting (dim/indoor) and hand size show negligible effect on MediaPipe accuracy</a:t>
            </a:r>
          </a:p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Large left–right polygon-hit asymmetry (53.2% vs 95.8%) likely user-skill artifact — needs study</a:t>
            </a:r>
          </a:p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Pipeline and dataset are open-source contributions enabling benchmarking of any new vision model</a:t>
            </a:r>
          </a:p>
          <a:p>
            <a:pPr algn="l"/>
            <a:r>
              <a:rPr sz="1800" b="0" dirty="0">
                <a:solidFill>
                  <a:srgbClr val="1C1C2E"/>
                </a:solidFill>
                <a:latin typeface="Calibri"/>
              </a:rPr>
              <a:t>• MediaPipe viable on decent mobile hardware — no additional cost for a consumer tutoring application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15958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/>
              <a:t>Future </a:t>
            </a:r>
            <a:r>
              <a:rPr lang="en-US" sz="3000" b="1" dirty="0"/>
              <a:t>Enhancements and Further Research</a:t>
            </a:r>
            <a:endParaRPr sz="3000" b="1" dirty="0"/>
          </a:p>
        </p:txBody>
      </p:sp>
      <p:sp>
        <p:nvSpPr>
          <p:cNvPr id="3" name="Rectangle 2"/>
          <p:cNvSpPr/>
          <p:nvPr/>
        </p:nvSpPr>
        <p:spPr>
          <a:xfrm>
            <a:off x="251714" y="4784615"/>
            <a:ext cx="1463040" cy="196596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400" i="1" dirty="0">
                <a:solidFill>
                  <a:srgbClr val="738CBE"/>
                </a:solidFill>
              </a:rPr>
              <a:t>Type I – V balanced </a:t>
            </a:r>
            <a:endParaRPr sz="2400" i="1" dirty="0">
              <a:solidFill>
                <a:srgbClr val="738CBE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11005C-2830-8A3B-68C5-0D3B781041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700" y="906942"/>
            <a:ext cx="6821424" cy="366505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0BDA6F-01DF-B0B4-1C31-B56B682C437B}"/>
              </a:ext>
            </a:extLst>
          </p:cNvPr>
          <p:cNvSpPr/>
          <p:nvPr/>
        </p:nvSpPr>
        <p:spPr>
          <a:xfrm>
            <a:off x="2266315" y="4784055"/>
            <a:ext cx="1463040" cy="196596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400" i="1" dirty="0">
                <a:solidFill>
                  <a:srgbClr val="738CBE"/>
                </a:solidFill>
              </a:rPr>
              <a:t>More hand sizes</a:t>
            </a:r>
            <a:endParaRPr sz="2400" i="1" dirty="0">
              <a:solidFill>
                <a:srgbClr val="738CBE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18E785-A425-2DEB-D91A-2181427A9372}"/>
              </a:ext>
            </a:extLst>
          </p:cNvPr>
          <p:cNvSpPr/>
          <p:nvPr/>
        </p:nvSpPr>
        <p:spPr>
          <a:xfrm>
            <a:off x="4311396" y="4784615"/>
            <a:ext cx="1463040" cy="196596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600" i="1" dirty="0">
                <a:solidFill>
                  <a:srgbClr val="738CBE"/>
                </a:solidFill>
              </a:rPr>
              <a:t>Preprocessing layer for OpenPose</a:t>
            </a:r>
            <a:endParaRPr sz="1600" i="1" dirty="0">
              <a:solidFill>
                <a:srgbClr val="738CB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E5288B-5719-855D-BC6A-5604ED7A54EC}"/>
              </a:ext>
            </a:extLst>
          </p:cNvPr>
          <p:cNvSpPr/>
          <p:nvPr/>
        </p:nvSpPr>
        <p:spPr>
          <a:xfrm>
            <a:off x="6416167" y="4784615"/>
            <a:ext cx="1463040" cy="196596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600" i="1" dirty="0">
                <a:solidFill>
                  <a:srgbClr val="738CBE"/>
                </a:solidFill>
              </a:rPr>
              <a:t>Filtering for Occlusions and finger overlaps</a:t>
            </a:r>
            <a:endParaRPr sz="1600" i="1" dirty="0">
              <a:solidFill>
                <a:srgbClr val="738CBE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7B368F-E012-5BC4-39CF-AFFE8649FC29}"/>
              </a:ext>
            </a:extLst>
          </p:cNvPr>
          <p:cNvSpPr/>
          <p:nvPr/>
        </p:nvSpPr>
        <p:spPr>
          <a:xfrm>
            <a:off x="8461248" y="4784615"/>
            <a:ext cx="1463040" cy="196596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600" i="1" dirty="0">
                <a:solidFill>
                  <a:srgbClr val="738CBE"/>
                </a:solidFill>
              </a:rPr>
              <a:t>Expert Pianist for Dataset</a:t>
            </a:r>
            <a:endParaRPr sz="1600" i="1" dirty="0">
              <a:solidFill>
                <a:srgbClr val="738CBE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AB70C5-86A2-14CC-B22B-6CC18DC80B0D}"/>
              </a:ext>
            </a:extLst>
          </p:cNvPr>
          <p:cNvSpPr/>
          <p:nvPr/>
        </p:nvSpPr>
        <p:spPr>
          <a:xfrm>
            <a:off x="10506329" y="4784615"/>
            <a:ext cx="1463040" cy="1965960"/>
          </a:xfrm>
          <a:prstGeom prst="rect">
            <a:avLst/>
          </a:prstGeom>
          <a:solidFill>
            <a:srgbClr val="1E2A41"/>
          </a:solidFill>
          <a:ln w="19050">
            <a:solidFill>
              <a:srgbClr val="4B6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600" i="1" dirty="0">
                <a:solidFill>
                  <a:srgbClr val="738CBE"/>
                </a:solidFill>
              </a:rPr>
              <a:t>Filtering for Occlusions and finger overlaps</a:t>
            </a:r>
            <a:endParaRPr sz="1600" i="1" dirty="0">
              <a:solidFill>
                <a:srgbClr val="738CBE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10312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E8C86C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657A"/>
                </a:solidFill>
                <a:latin typeface="Calibri"/>
              </a:rPr>
              <a:t>Aayam Regmi · aayam.regmi2003@gmail.com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E8C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630936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D1B2A"/>
                </a:solidFill>
                <a:latin typeface="Calibri"/>
              </a:rPr>
              <a:t>BSc (Hons) Computing · The British College / Leeds Beckett University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1339</Words>
  <Application>Microsoft Office PowerPoint</Application>
  <PresentationFormat>Custom</PresentationFormat>
  <Paragraphs>125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Aayam Regmi</dc:creator>
  <cp:keywords/>
  <dc:description>generated using python-pptx</dc:description>
  <cp:lastModifiedBy>Aayam Regmi</cp:lastModifiedBy>
  <cp:revision>6</cp:revision>
  <dcterms:created xsi:type="dcterms:W3CDTF">2013-01-27T09:14:16Z</dcterms:created>
  <dcterms:modified xsi:type="dcterms:W3CDTF">2026-05-04T00:43:35Z</dcterms:modified>
  <cp:category/>
</cp:coreProperties>
</file>